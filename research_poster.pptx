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370" y="-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4000" dirty="0"/>
              <a:t>Per-Task Judge Scores by Agent Role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Planner</c:v>
                </c:pt>
              </c:strCache>
            </c:strRef>
          </c:tx>
          <c:spPr>
            <a:solidFill>
              <a:srgbClr val="1A2E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9-4F11-A09C-8CA4860C23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Researcher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09-4F11-A09C-8CA4860C23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Writer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9-4F11-A09C-8CA4860C23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sz="4000"/>
      </a:pPr>
      <a:endParaRPr lang="en-PK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85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206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43891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0723840"/>
            <a:ext cx="43891200" cy="2194560"/>
          </a:xfrm>
          <a:prstGeom prst="rect">
            <a:avLst/>
          </a:prstGeom>
          <a:solidFill>
            <a:srgbClr val="0F1C38"/>
          </a:solidFill>
          <a:ln w="12700">
            <a:solidFill>
              <a:srgbClr val="0F1C38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41696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Conquer: Role Assignment and Coordination Strategies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4169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LLM-Powered Multi-Agent Systems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097280" y="2528514"/>
            <a:ext cx="4169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Khalid  ·  Laiba Zubair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106072"/>
            <a:ext cx="41696640" cy="615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8A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Data Science &amp; AI  |  National University of Computer &amp; Emerging Sciences, Islamabad, Pakistan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10698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274320" y="5166360"/>
            <a:ext cx="10698480" cy="937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5349240"/>
            <a:ext cx="10424160" cy="873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Large language models (LLMs) enable a new design space: teams of specialized agents that divide complex tasks and collaborate. This work presents a custom multi-agent orchestration system with three fixed-role agents—Planner, Researcher, and Writer—coordinated by a Judge agent that gates progression via a scored quality threshold. An external Wikipedia tool gives the Researcher optional grounded retrieval. A fault-tolerant retry loop with judge-feedback injection handles agent failures autonomously. Experiments across five open-domain knowledge tasks show a mean judge score of 8.87/10, 100% pipeline completion, and self-correcting behaviour from feedback-augmented retries.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65760" y="14721840"/>
            <a:ext cx="10698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4" name="Text 12"/>
          <p:cNvSpPr/>
          <p:nvPr/>
        </p:nvSpPr>
        <p:spPr>
          <a:xfrm>
            <a:off x="365760" y="14721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365760" y="15224760"/>
            <a:ext cx="10698480" cy="1214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16" name="Text 14"/>
          <p:cNvSpPr/>
          <p:nvPr/>
        </p:nvSpPr>
        <p:spPr>
          <a:xfrm>
            <a:off x="548640" y="15453360"/>
            <a:ext cx="10332720" cy="1240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2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Single-agent LLMs fail on complex synthesis tasks — planning, research, and writing conflict in one context window.</a:t>
            </a:r>
            <a:endParaRPr lang="en-US" sz="4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2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Role rigidity vs. role confusion: fixed pipelines break under novelty; loose systems duplicate or miss sub-tasks.</a:t>
            </a:r>
            <a:endParaRPr lang="en-US" sz="4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2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No existing framework resolves the triple challenge of flexibility, coherence, and fault tolerance simultaneously.</a:t>
            </a:r>
            <a:endParaRPr lang="en-US" sz="4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2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Core question: How can an LLM system decompose a knowledge task, execute sub-tasks reliably, verify quality, and recover from failures — without human intervention?</a:t>
            </a:r>
            <a:endParaRPr lang="en-US" sz="4200" dirty="0"/>
          </a:p>
          <a:p>
            <a:pPr marL="342900" indent="-342900">
              <a:buSzPct val="100000"/>
              <a:buChar char="•"/>
            </a:pPr>
            <a:r>
              <a:rPr lang="en-US" sz="42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Agentic solution is necessary: multi-step reasoning, role-specific execution, quality judgment under uncertainty, autonomous retry.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365760" y="27637740"/>
            <a:ext cx="1069848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8" name="Text 16"/>
          <p:cNvSpPr/>
          <p:nvPr/>
        </p:nvSpPr>
        <p:spPr>
          <a:xfrm>
            <a:off x="365760" y="276377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AT A GLANCE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365760" y="28140660"/>
            <a:ext cx="10698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20" name="Text 18"/>
          <p:cNvSpPr/>
          <p:nvPr/>
        </p:nvSpPr>
        <p:spPr>
          <a:xfrm>
            <a:off x="457200" y="283235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8.87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457200" y="292836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Judge Score /10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283235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4023360" y="292836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0" y="283235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7772400" y="292836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(of 15 stages)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247120" y="4663440"/>
            <a:ext cx="1069848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11247120" y="5166359"/>
            <a:ext cx="10698480" cy="1261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9903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11247120" y="17918103"/>
            <a:ext cx="1069848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3" name="Text 51"/>
          <p:cNvSpPr/>
          <p:nvPr/>
        </p:nvSpPr>
        <p:spPr>
          <a:xfrm>
            <a:off x="11247120" y="17918103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5400" dirty="0"/>
          </a:p>
        </p:txBody>
      </p:sp>
      <p:sp>
        <p:nvSpPr>
          <p:cNvPr id="54" name="Shape 52"/>
          <p:cNvSpPr/>
          <p:nvPr/>
        </p:nvSpPr>
        <p:spPr>
          <a:xfrm>
            <a:off x="11224262" y="18512463"/>
            <a:ext cx="10675620" cy="1182275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55" name="Shape 53"/>
          <p:cNvSpPr/>
          <p:nvPr/>
        </p:nvSpPr>
        <p:spPr>
          <a:xfrm>
            <a:off x="11395712" y="18681517"/>
            <a:ext cx="10332720" cy="2534493"/>
          </a:xfrm>
          <a:prstGeom prst="rect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6" name="Text 54"/>
          <p:cNvSpPr/>
          <p:nvPr/>
        </p:nvSpPr>
        <p:spPr>
          <a:xfrm>
            <a:off x="11540217" y="18785367"/>
            <a:ext cx="10149840" cy="476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Planner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1513276" y="19382871"/>
            <a:ext cx="10149840" cy="145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task → structured step-by-step plan with sub-tasks, research directions, and writing strategy.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11385902" y="21298879"/>
            <a:ext cx="10332720" cy="2692473"/>
          </a:xfrm>
          <a:prstGeom prst="rect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9" name="Text 57"/>
          <p:cNvSpPr/>
          <p:nvPr/>
        </p:nvSpPr>
        <p:spPr>
          <a:xfrm>
            <a:off x="11518979" y="21566696"/>
            <a:ext cx="10149840" cy="476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Researcher</a:t>
            </a:r>
            <a:endParaRPr lang="en-US" sz="4000" dirty="0"/>
          </a:p>
        </p:txBody>
      </p:sp>
      <p:sp>
        <p:nvSpPr>
          <p:cNvPr id="60" name="Text 58"/>
          <p:cNvSpPr/>
          <p:nvPr/>
        </p:nvSpPr>
        <p:spPr>
          <a:xfrm>
            <a:off x="11568782" y="22094407"/>
            <a:ext cx="10149840" cy="167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information from plan context. Emits [SEARCH: keyword] to invoke Wikipedia tool; Coordinator intercepts, appends observation, re-runs agent.</a:t>
            </a:r>
            <a:endParaRPr lang="en-US" sz="3200" dirty="0"/>
          </a:p>
        </p:txBody>
      </p:sp>
      <p:sp>
        <p:nvSpPr>
          <p:cNvPr id="61" name="Shape 59"/>
          <p:cNvSpPr/>
          <p:nvPr/>
        </p:nvSpPr>
        <p:spPr>
          <a:xfrm>
            <a:off x="11384284" y="24224960"/>
            <a:ext cx="10378438" cy="2651760"/>
          </a:xfrm>
          <a:prstGeom prst="rect">
            <a:avLst/>
          </a:prstGeom>
          <a:solidFill>
            <a:srgbClr val="EC4899">
              <a:alpha val="9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62" name="Text 60"/>
          <p:cNvSpPr/>
          <p:nvPr/>
        </p:nvSpPr>
        <p:spPr>
          <a:xfrm>
            <a:off x="11612882" y="24404953"/>
            <a:ext cx="10149840" cy="43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Writer</a:t>
            </a:r>
            <a:endParaRPr lang="en-US" sz="4000" dirty="0"/>
          </a:p>
        </p:txBody>
      </p:sp>
      <p:sp>
        <p:nvSpPr>
          <p:cNvPr id="63" name="Text 61"/>
          <p:cNvSpPr/>
          <p:nvPr/>
        </p:nvSpPr>
        <p:spPr>
          <a:xfrm>
            <a:off x="11568782" y="24974988"/>
            <a:ext cx="10149840" cy="144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full accumulated context (plan + research) → final synthesized document. Strips internal tool markup from output.</a:t>
            </a:r>
            <a:endParaRPr lang="en-US" sz="3200" dirty="0"/>
          </a:p>
        </p:txBody>
      </p:sp>
      <p:sp>
        <p:nvSpPr>
          <p:cNvPr id="64" name="Shape 62"/>
          <p:cNvSpPr/>
          <p:nvPr/>
        </p:nvSpPr>
        <p:spPr>
          <a:xfrm>
            <a:off x="11338564" y="27146467"/>
            <a:ext cx="10401298" cy="2604586"/>
          </a:xfrm>
          <a:prstGeom prst="rect">
            <a:avLst/>
          </a:prstGeom>
          <a:solidFill>
            <a:srgbClr val="E8A838">
              <a:alpha val="9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545922" y="27327388"/>
            <a:ext cx="1023966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Judge Agent</a:t>
            </a:r>
            <a:endParaRPr lang="en-US" sz="4000" dirty="0"/>
          </a:p>
        </p:txBody>
      </p:sp>
      <p:sp>
        <p:nvSpPr>
          <p:cNvPr id="66" name="Text 64"/>
          <p:cNvSpPr/>
          <p:nvPr/>
        </p:nvSpPr>
        <p:spPr>
          <a:xfrm>
            <a:off x="11492045" y="28085870"/>
            <a:ext cx="10140054" cy="143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JSON only: {score 1–10, feedback, passed (score≥7)}. Coordinator reads 'passed' to gate or retry. Regex fallback if JSON malformed.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22219920" y="4663440"/>
            <a:ext cx="10698480" cy="5029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2199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FAULT TOLERANCE</a:t>
            </a:r>
            <a:endParaRPr lang="en-US" sz="4800" dirty="0"/>
          </a:p>
        </p:txBody>
      </p:sp>
      <p:sp>
        <p:nvSpPr>
          <p:cNvPr id="69" name="Shape 67"/>
          <p:cNvSpPr/>
          <p:nvPr/>
        </p:nvSpPr>
        <p:spPr>
          <a:xfrm>
            <a:off x="22219920" y="5166360"/>
            <a:ext cx="10698480" cy="1673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87" name="Text 85"/>
          <p:cNvSpPr/>
          <p:nvPr/>
        </p:nvSpPr>
        <p:spPr>
          <a:xfrm>
            <a:off x="29352240" y="87416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3)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29352240" y="102961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3)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22128482" y="22681257"/>
            <a:ext cx="21305518" cy="965127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02" name="Text 100"/>
          <p:cNvSpPr/>
          <p:nvPr/>
        </p:nvSpPr>
        <p:spPr>
          <a:xfrm>
            <a:off x="27432001" y="229788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EVALUATION RESULTS</a:t>
            </a:r>
            <a:endParaRPr lang="en-US" sz="5400" dirty="0"/>
          </a:p>
        </p:txBody>
      </p:sp>
      <p:sp>
        <p:nvSpPr>
          <p:cNvPr id="103" name="Shape 101"/>
          <p:cNvSpPr/>
          <p:nvPr/>
        </p:nvSpPr>
        <p:spPr>
          <a:xfrm>
            <a:off x="22128482" y="23646384"/>
            <a:ext cx="21579838" cy="6528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18694"/>
              </p:ext>
            </p:extLst>
          </p:nvPr>
        </p:nvGraphicFramePr>
        <p:xfrm>
          <a:off x="22357082" y="23829264"/>
          <a:ext cx="21076915" cy="6099051"/>
        </p:xfrm>
        <a:graphic>
          <a:graphicData uri="http://schemas.openxmlformats.org/drawingml/2006/table">
            <a:tbl>
              <a:tblPr/>
              <a:tblGrid>
                <a:gridCol w="5474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28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71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Planner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Researcher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Writer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Retries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Time (s)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T1: Climate Change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16A34A"/>
                          </a:solidFill>
                        </a:rPr>
                        <a:t>Yes 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151.6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T2: Nuclear Energy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E8A838"/>
                          </a:solidFill>
                        </a:rPr>
                        <a:t>8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4A5568"/>
                          </a:solidFill>
                        </a:rPr>
                        <a:t>No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94.5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T3: COVID-19 Econ.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D7377"/>
                          </a:solidFill>
                        </a:rPr>
                        <a:t>Yes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110.9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T4: AI History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E8A838"/>
                          </a:solidFill>
                        </a:rPr>
                        <a:t>8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C0392B"/>
                          </a:solidFill>
                        </a:rPr>
                        <a:t>1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D7377"/>
                          </a:solidFill>
                        </a:rPr>
                        <a:t>Yes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164.6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T5: World War I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16A34A"/>
                          </a:solidFill>
                        </a:rPr>
                        <a:t>9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4A5568"/>
                          </a:solidFill>
                        </a:rPr>
                        <a:t>No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>
                          <a:solidFill>
                            <a:srgbClr val="000000"/>
                          </a:solidFill>
                        </a:rPr>
                        <a:t>102.0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1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9.0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8.8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8.8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0.2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3/5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b="1" dirty="0">
                          <a:solidFill>
                            <a:srgbClr val="FFFFFF"/>
                          </a:solidFill>
                        </a:rPr>
                        <a:t>124.7</a:t>
                      </a:r>
                      <a:endParaRPr lang="en-US" sz="44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5" name="Shape 102"/>
          <p:cNvSpPr/>
          <p:nvPr/>
        </p:nvSpPr>
        <p:spPr>
          <a:xfrm>
            <a:off x="33192720" y="4663440"/>
            <a:ext cx="1069848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331927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ANALYSIS</a:t>
            </a:r>
            <a:endParaRPr lang="en-US" sz="5400" dirty="0"/>
          </a:p>
        </p:txBody>
      </p:sp>
      <p:sp>
        <p:nvSpPr>
          <p:cNvPr id="107" name="Shape 104"/>
          <p:cNvSpPr/>
          <p:nvPr/>
        </p:nvSpPr>
        <p:spPr>
          <a:xfrm>
            <a:off x="33192720" y="5166360"/>
            <a:ext cx="10698480" cy="93888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08" name="Chart 0"/>
          <p:cNvGraphicFramePr/>
          <p:nvPr>
            <p:extLst>
              <p:ext uri="{D42A27DB-BD31-4B8C-83A1-F6EECF244321}">
                <p14:modId xmlns:p14="http://schemas.microsoft.com/office/powerpoint/2010/main" val="3641635789"/>
              </p:ext>
            </p:extLst>
          </p:nvPr>
        </p:nvGraphicFramePr>
        <p:xfrm>
          <a:off x="33467040" y="5303520"/>
          <a:ext cx="10149840" cy="886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Shape 109"/>
          <p:cNvSpPr/>
          <p:nvPr/>
        </p:nvSpPr>
        <p:spPr>
          <a:xfrm>
            <a:off x="33238438" y="14753844"/>
            <a:ext cx="10698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33238438" y="1475384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4000" dirty="0"/>
          </a:p>
        </p:txBody>
      </p:sp>
      <p:sp>
        <p:nvSpPr>
          <p:cNvPr id="115" name="Shape 111"/>
          <p:cNvSpPr/>
          <p:nvPr/>
        </p:nvSpPr>
        <p:spPr>
          <a:xfrm>
            <a:off x="33238438" y="15256764"/>
            <a:ext cx="10698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6" name="Text 112"/>
          <p:cNvSpPr/>
          <p:nvPr/>
        </p:nvSpPr>
        <p:spPr>
          <a:xfrm>
            <a:off x="33352737" y="15286701"/>
            <a:ext cx="10469881" cy="239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Hallucination: Judge scores coherence, not factuality — outputs need human verification for high-stakes use.</a:t>
            </a:r>
            <a:endParaRPr lang="en-US" sz="2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API reliability: Rate limits (HTTP 429) can corrupt Judge JSON, forcing retries unrelated to output quality.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Bias: Agents inherit LLM training biases — Western-centric viewpoints may appear in politically sensitive tasks.</a:t>
            </a:r>
            <a:endParaRPr lang="en-US" sz="2400" dirty="0"/>
          </a:p>
        </p:txBody>
      </p:sp>
      <p:sp>
        <p:nvSpPr>
          <p:cNvPr id="117" name="Shape 113"/>
          <p:cNvSpPr/>
          <p:nvPr/>
        </p:nvSpPr>
        <p:spPr>
          <a:xfrm>
            <a:off x="33238438" y="17862804"/>
            <a:ext cx="10698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33238438" y="1786280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4000" dirty="0"/>
          </a:p>
        </p:txBody>
      </p:sp>
      <p:sp>
        <p:nvSpPr>
          <p:cNvPr id="119" name="Shape 115"/>
          <p:cNvSpPr/>
          <p:nvPr/>
        </p:nvSpPr>
        <p:spPr>
          <a:xfrm>
            <a:off x="33238438" y="18457164"/>
            <a:ext cx="10698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0" name="Text 116"/>
          <p:cNvSpPr/>
          <p:nvPr/>
        </p:nvSpPr>
        <p:spPr>
          <a:xfrm>
            <a:off x="33307019" y="18548170"/>
            <a:ext cx="10401301" cy="381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Proposed a Judge-gated Planner→Researcher→Writer pipeline with Wikipedia tool hooks and retry logic.</a:t>
            </a:r>
            <a:endParaRPr lang="en-US" sz="2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Results: 8.87/10 mean judge score, 100% completion, 1 retry, 1/3 tool success across 5 tasks.</a:t>
            </a:r>
            <a:endParaRPr lang="en-US" sz="2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Future (1): Robust Wikipedia title resolution via search-then-fetch.</a:t>
            </a:r>
            <a:endParaRPr lang="en-US" sz="2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Future (2): Adaptive role management — Coordinator adjusts system prompts based on agent performance.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2535"/>
                </a:solidFill>
                <a:ea typeface="Calibri" pitchFamily="34" charset="-122"/>
                <a:cs typeface="Calibri" pitchFamily="34" charset="-120"/>
              </a:rPr>
              <a:t>Future (3): Human evaluation + multi-seed runs to calibrate Judge and establish reproducible baselines.</a:t>
            </a:r>
            <a:endParaRPr lang="en-US" sz="2400" dirty="0"/>
          </a:p>
        </p:txBody>
      </p:sp>
      <p:sp>
        <p:nvSpPr>
          <p:cNvPr id="121" name="Text 117"/>
          <p:cNvSpPr/>
          <p:nvPr/>
        </p:nvSpPr>
        <p:spPr>
          <a:xfrm>
            <a:off x="457200" y="30815280"/>
            <a:ext cx="4297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A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[1] Wang et al. Frontiers 2024  |  [2] Deng et al. IEEE TNNLS 2024  |  [3] Chen et al. ICLR 2024  |  [4] Wu et al. NeurIPS 2024  |  [5] Qian et al. ICLR 2024  |  [6] Li et al. NeurIPS 2023  |  [7] Gronauer &amp; Diepold, AI Rev. 2022  |  [8] Liu et al. ICLR 2024</a:t>
            </a:r>
            <a:endParaRPr lang="en-US" sz="2400" dirty="0"/>
          </a:p>
        </p:txBody>
      </p:sp>
      <p:sp>
        <p:nvSpPr>
          <p:cNvPr id="122" name="Text 118"/>
          <p:cNvSpPr/>
          <p:nvPr/>
        </p:nvSpPr>
        <p:spPr>
          <a:xfrm>
            <a:off x="457200" y="31683960"/>
            <a:ext cx="4297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Islamabad  ·  Department of Data Science and Artificial Intelligence  ·  Agentic AI </a:t>
            </a:r>
            <a:endParaRPr lang="en-US" sz="2800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E818ABD9-D65F-D0FF-F051-1D6985CED8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1" t="4249"/>
          <a:stretch>
            <a:fillRect/>
          </a:stretch>
        </p:blipFill>
        <p:spPr>
          <a:xfrm>
            <a:off x="22402796" y="5715000"/>
            <a:ext cx="10415999" cy="16075152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019506A8-B5DE-F051-B8E3-94AA1957AD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44" b="19034"/>
          <a:stretch>
            <a:fillRect/>
          </a:stretch>
        </p:blipFill>
        <p:spPr>
          <a:xfrm>
            <a:off x="11407136" y="5333290"/>
            <a:ext cx="10447159" cy="12219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719</Words>
  <Application>Microsoft Office PowerPoint</Application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Maryam Khalid</cp:lastModifiedBy>
  <cp:revision>3</cp:revision>
  <dcterms:created xsi:type="dcterms:W3CDTF">2026-04-26T15:05:04Z</dcterms:created>
  <dcterms:modified xsi:type="dcterms:W3CDTF">2026-04-26T19:29:00Z</dcterms:modified>
</cp:coreProperties>
</file>